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22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28600" cy="6858000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1188720" cy="109728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C9C9D2"/>
                </a:solidFill>
                <a:latin typeface="맑은 고딕"/>
              </a:rPr>
              <a:t>내가 만든 데이팅 앱으로 배우는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4600" b="1">
                <a:solidFill>
                  <a:srgbClr val="FFFFFF"/>
                </a:solidFill>
                <a:latin typeface="맑은 고딕"/>
              </a:rPr>
              <a:t>운영체제(OS) 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E6E6EC"/>
                </a:solidFill>
                <a:latin typeface="맑은 고딕"/>
              </a:rPr>
              <a:t>음악 취향 기반 1:1 매칭 + 채팅 웹앱 (뮤직매치)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5B66"/>
                </a:solidFill>
                <a:latin typeface="맑은 고딕"/>
              </a:rPr>
              <a:t>Remix · Supabase(PostgreSQL) · Railway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120640"/>
            <a:ext cx="5120640" cy="822960"/>
          </a:xfrm>
          <a:prstGeom prst="roundRect">
            <a:avLst/>
          </a:prstGeom>
          <a:solidFill>
            <a:srgbClr val="2C2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230368"/>
            <a:ext cx="4846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625D"/>
                </a:solidFill>
                <a:latin typeface="맑은 고딕"/>
              </a:rPr>
              <a:t>실제 코드 → 교과서 OS 개념으로 1:1 매핑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C9C9D2"/>
                </a:solidFill>
                <a:latin typeface="맑은 고딕"/>
              </a:rPr>
              <a:t>동시성 · 임계구역 · 캐시 · 스케줄링 · 보호 · IPC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234440"/>
          </a:xfrm>
          <a:prstGeom prst="roundRect">
            <a:avLst/>
          </a:prstGeom>
          <a:solidFill>
            <a:srgbClr val="FF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64592" cy="1234440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625D"/>
                </a:solidFill>
                <a:latin typeface="맑은 고딕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22228"/>
                </a:solidFill>
                <a:latin typeface="맑은 고딕"/>
              </a:rPr>
              <a:t>한눈에 보기 — 앱 기능 ↔ OS 개념 매핑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11064240" cy="457200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8191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앱에서 만든 기능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58191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대응되는 OS 개념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1581912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슬라이드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65960"/>
            <a:ext cx="11064240" cy="566928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84832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228"/>
                </a:solidFill>
                <a:latin typeface="맑은 고딕"/>
              </a:rPr>
              <a:t>동시 매칭 버그 수정 (advisory lock)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08483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25D"/>
                </a:solidFill>
                <a:latin typeface="맑은 고딕"/>
              </a:rPr>
              <a:t>임계구역·상호배제·경쟁 상태·락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2084832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5B66"/>
                </a:solidFill>
                <a:latin typeface="맑은 고딕"/>
              </a:rPr>
              <a:t>03~05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32888"/>
            <a:ext cx="1106424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65176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228"/>
                </a:solidFill>
                <a:latin typeface="맑은 고딕"/>
              </a:rPr>
              <a:t>멜론 검색/차트 인메모리 캐시 (TTL)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6517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25D"/>
                </a:solidFill>
                <a:latin typeface="맑은 고딕"/>
              </a:rPr>
              <a:t>캐싱·지역성·캐시 교체·만료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65176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5B66"/>
                </a:solidFill>
                <a:latin typeface="맑은 고딕"/>
              </a:rPr>
              <a:t>06~07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99816"/>
            <a:ext cx="11064240" cy="566928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218688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228"/>
                </a:solidFill>
                <a:latin typeface="맑은 고딕"/>
              </a:rPr>
              <a:t>매칭 대기열 / 승인 대기 / 한 명 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21868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25D"/>
                </a:solidFill>
                <a:latin typeface="맑은 고딕"/>
              </a:rPr>
              <a:t>프로세스 상태·스케줄링·큐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321868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5B66"/>
                </a:solidFill>
                <a:latin typeface="맑은 고딕"/>
              </a:rPr>
              <a:t>08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666744"/>
            <a:ext cx="1106424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785616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228"/>
                </a:solidFill>
                <a:latin typeface="맑은 고딕"/>
              </a:rPr>
              <a:t>실시간 채팅 (Realtime 구독)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785616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25D"/>
                </a:solidFill>
                <a:latin typeface="맑은 고딕"/>
              </a:rPr>
              <a:t>프로세스 간 통신(IPC)·메시지 패싱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3785616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5B66"/>
                </a:solidFill>
                <a:latin typeface="맑은 고딕"/>
              </a:rPr>
              <a:t>09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233672"/>
            <a:ext cx="11064240" cy="566928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352544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228"/>
                </a:solidFill>
                <a:latin typeface="맑은 고딕"/>
              </a:rPr>
              <a:t>한 번만 보기 사진 / 펑 메시지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4352544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25D"/>
                </a:solidFill>
                <a:latin typeface="맑은 고딕"/>
              </a:rPr>
              <a:t>자원 회수·파일 수명·동기화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4352544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5B66"/>
                </a:solidFill>
                <a:latin typeface="맑은 고딕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800600"/>
            <a:ext cx="1106424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919472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22228"/>
                </a:solidFill>
                <a:latin typeface="맑은 고딕"/>
              </a:rPr>
              <a:t>RLS · service_role · 서버 전용 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491947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25D"/>
                </a:solidFill>
                <a:latin typeface="맑은 고딕"/>
              </a:rPr>
              <a:t>보호·접근제어·이중 모드(권한)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4919472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5B66"/>
                </a:solidFill>
                <a:latin typeface="맑은 고딕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5B66"/>
                </a:solidFill>
                <a:latin typeface="맑은 고딕"/>
              </a:rPr>
              <a:t>뮤직매치 · OS 사례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234440"/>
          </a:xfrm>
          <a:prstGeom prst="roundRect">
            <a:avLst/>
          </a:prstGeom>
          <a:solidFill>
            <a:srgbClr val="FF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64592" cy="1234440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625D"/>
                </a:solidFill>
                <a:latin typeface="맑은 고딕"/>
              </a:rPr>
              <a:t>동시성 #1 ·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22228"/>
                </a:solidFill>
                <a:latin typeface="맑은 고딕"/>
              </a:rPr>
              <a:t>경쟁 상태(Race Condition) — 두 명이 동시에 '매칭'을 누르면?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5B66"/>
                </a:solidFill>
                <a:latin typeface="맑은 고딕"/>
              </a:rPr>
              <a:t>매칭 함수는 ① 후보를 SELECT 하고 ② matches 테이블에 INSERT 합니다. 이 둘 사이에 다른 호출이 끼어들면(인터리빙) 잘못된 결과가 생깁니다.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5440680" cy="182880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5440680" cy="82296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487168"/>
            <a:ext cx="50383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2228"/>
                </a:solidFill>
                <a:latin typeface="맑은 고딕"/>
              </a:rPr>
              <a:t>(a) 빠른 더블클릭 / 두 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999232"/>
            <a:ext cx="503834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같은 사용자가 거의 동시에 두 번 호출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둘 다 '나는 아직 매칭 없음'으로 판단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→ 내가 매칭 2개에 동시에 들어감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286000"/>
            <a:ext cx="5440680" cy="182880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2286000"/>
            <a:ext cx="5440680" cy="82296"/>
          </a:xfrm>
          <a:prstGeom prst="roundRect">
            <a:avLst/>
          </a:prstGeom>
          <a:solidFill>
            <a:srgbClr val="22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487168"/>
            <a:ext cx="50383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2228"/>
                </a:solidFill>
                <a:latin typeface="맑은 고딕"/>
              </a:rPr>
              <a:t>(b) A·B가 서로를 동시에 선택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999232"/>
            <a:ext cx="503834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A는 B를, B는 A를 동시에 후보로 집음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각자 INSERT 실행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→ 같은 (A,B) 쌍에 active 매칭 2행 생성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43400"/>
            <a:ext cx="11064240" cy="1737360"/>
          </a:xfrm>
          <a:prstGeom prst="roundRect">
            <a:avLst/>
          </a:prstGeom>
          <a:solidFill>
            <a:srgbClr val="FF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4805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25D"/>
                </a:solidFill>
                <a:latin typeface="맑은 고딕"/>
              </a:rPr>
              <a:t>📖 OS 용어로 말하면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9204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22228"/>
                </a:solidFill>
                <a:latin typeface="맑은 고딕"/>
              </a:rPr>
              <a:t>• 임계구역(Critical Section): SELECT~INSERT 구간 — 한 번에 하나만 실행돼야 한다.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22228"/>
                </a:solidFill>
                <a:latin typeface="맑은 고딕"/>
              </a:rPr>
              <a:t>• 경쟁 상태: 실행 순서(스케줄링)에 따라 결과가 달라지는 버그.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22228"/>
                </a:solidFill>
                <a:latin typeface="맑은 고딕"/>
              </a:rPr>
              <a:t>• 원인: 공유 자원(matches 테이블)에 대한 상호배제(Mutual Exclusion) 부재.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5B66"/>
                </a:solidFill>
                <a:latin typeface="맑은 고딕"/>
              </a:rPr>
              <a:t>뮤직매치 · OS 사례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234440"/>
          </a:xfrm>
          <a:prstGeom prst="roundRect">
            <a:avLst/>
          </a:prstGeom>
          <a:solidFill>
            <a:srgbClr val="FF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64592" cy="1234440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625D"/>
                </a:solidFill>
                <a:latin typeface="맑은 고딕"/>
              </a:rPr>
              <a:t>동시성 #2 · 해결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22228"/>
                </a:solidFill>
                <a:latin typeface="맑은 고딕"/>
              </a:rPr>
              <a:t>상호배제 — Advisory Lock 으로 임계구역 직렬화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6766560" cy="4480560"/>
          </a:xfrm>
          <a:prstGeom prst="round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 bIns="101600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>
                <a:solidFill>
                  <a:srgbClr val="7A9E7E"/>
                </a:solidFill>
                <a:latin typeface="Consolas"/>
              </a:rPr>
              <a:t>-- 빠른 경로: 이미 매칭 있으면 락 없이 즉시 반환 (멱등)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>
                <a:solidFill>
                  <a:srgbClr val="E6E6EC"/>
                </a:solidFill>
                <a:latin typeface="Consolas"/>
              </a:rPr>
              <a:t>select id into v_match_id from matches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>
                <a:solidFill>
                  <a:srgbClr val="E6E6EC"/>
                </a:solidFill>
                <a:latin typeface="Consolas"/>
              </a:rPr>
              <a:t>where status='active'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>
                <a:solidFill>
                  <a:srgbClr val="E6E6EC"/>
                </a:solidFill>
                <a:latin typeface="Consolas"/>
              </a:rPr>
              <a:t>  and (user_a=p_user_id or user_b=p_user_id);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>
                <a:solidFill>
                  <a:srgbClr val="E6E6EC"/>
                </a:solidFill>
                <a:latin typeface="Consolas"/>
              </a:rPr>
              <a:t>if v_match_id is not null then return v_match_id; end if;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>
                <a:solidFill>
                  <a:srgbClr val="E6E6EC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>
                <a:solidFill>
                  <a:srgbClr val="7A9E7E"/>
                </a:solidFill>
                <a:latin typeface="Consolas"/>
              </a:rPr>
              <a:t>-- ① 임계구역 진입: 트랜잭션 advisory lock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>
                <a:solidFill>
                  <a:srgbClr val="7A9E7E"/>
                </a:solidFill>
                <a:latin typeface="Consolas"/>
              </a:rPr>
              <a:t>--    (= OS의 mutex.lock(). 같은 키는 한 번에 하나만)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>
                <a:solidFill>
                  <a:srgbClr val="E6E6EC"/>
                </a:solidFill>
                <a:latin typeface="Consolas"/>
              </a:rPr>
              <a:t>perform pg_advisory_xact_lock(hashtext('match_creation'));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>
                <a:solidFill>
                  <a:srgbClr val="E6E6EC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>
                <a:solidFill>
                  <a:srgbClr val="7A9E7E"/>
                </a:solidFill>
                <a:latin typeface="Consolas"/>
              </a:rPr>
              <a:t>-- ② 락 획득 후 재확인 (double-checked):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>
                <a:solidFill>
                  <a:srgbClr val="7A9E7E"/>
                </a:solidFill>
                <a:latin typeface="Consolas"/>
              </a:rPr>
              <a:t>--    대기하는 동안 상대가 나를 매칭했을 수 있음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>
                <a:solidFill>
                  <a:srgbClr val="E6E6EC"/>
                </a:solidFill>
                <a:latin typeface="Consolas"/>
              </a:rPr>
              <a:t>select id into v_match_id from matches ...;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>
                <a:solidFill>
                  <a:srgbClr val="E6E6EC"/>
                </a:solidFill>
                <a:latin typeface="Consolas"/>
              </a:rPr>
              <a:t>if v_match_id is not null then return v_match_id; end if;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>
                <a:solidFill>
                  <a:srgbClr val="E6E6EC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>
                <a:solidFill>
                  <a:srgbClr val="7A9E7E"/>
                </a:solidFill>
                <a:latin typeface="Consolas"/>
              </a:rPr>
              <a:t>-- ③ 후보 선정 → INSERT (이제 안전)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>
                <a:solidFill>
                  <a:srgbClr val="E6E6EC"/>
                </a:solidFill>
                <a:latin typeface="Consolas"/>
              </a:rPr>
              <a:t>insert into matches(user_a, user_b, status) ...;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00">
                <a:solidFill>
                  <a:srgbClr val="7A9E7E"/>
                </a:solidFill>
                <a:latin typeface="Consolas"/>
              </a:rPr>
              <a:t>-- 트랜잭션 종료 시 락 자동 해제 (= mutex.unlock())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63040"/>
            <a:ext cx="4069080" cy="214884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43800" y="1463040"/>
            <a:ext cx="4069080" cy="82296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44968" y="1664208"/>
            <a:ext cx="36667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2228"/>
                </a:solidFill>
                <a:latin typeface="맑은 고딕"/>
              </a:rPr>
              <a:t>핵심 3중 방어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4968" y="2176272"/>
            <a:ext cx="366674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① 락으로 구간 직렬화 (한 명씩)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② 락 후 재확인 — 이중 검사 잠금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③ DB 부분 유니크 인덱스로 최후 차단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3794760"/>
            <a:ext cx="4069080" cy="214884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43800" y="3794760"/>
            <a:ext cx="4069080" cy="82296"/>
          </a:xfrm>
          <a:prstGeom prst="roundRect">
            <a:avLst/>
          </a:prstGeom>
          <a:solidFill>
            <a:srgbClr val="22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3995928"/>
            <a:ext cx="36667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2228"/>
                </a:solidFill>
                <a:latin typeface="맑은 고딕"/>
              </a:rPr>
              <a:t>OS 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4507992"/>
            <a:ext cx="366674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pg_advisory_xact_lock ≈ mutex/세마포어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트랜잭션 종료 = 락 자동 반납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'빠른 경로'는 무경합 시 락 비용 회피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→ 동시성과 성능의 trade-off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5B66"/>
                </a:solidFill>
                <a:latin typeface="맑은 고딕"/>
              </a:rPr>
              <a:t>뮤직매치 · OS 사례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234440"/>
          </a:xfrm>
          <a:prstGeom prst="roundRect">
            <a:avLst/>
          </a:prstGeom>
          <a:solidFill>
            <a:srgbClr val="FF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64592" cy="1234440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625D"/>
                </a:solidFill>
                <a:latin typeface="맑은 고딕"/>
              </a:rPr>
              <a:t>동시성 #3 · 안전망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22228"/>
                </a:solidFill>
                <a:latin typeface="맑은 고딕"/>
              </a:rPr>
              <a:t>DB 레벨 불변식 + 데드락 관점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6766560" cy="2194560"/>
          </a:xfrm>
          <a:prstGeom prst="round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 bIns="101600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7A9E7E"/>
                </a:solidFill>
                <a:latin typeface="Consolas"/>
              </a:rPr>
              <a:t>-- 같은 쌍에 active 매칭이 둘 이상 생기지 못하게 하는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7A9E7E"/>
                </a:solidFill>
                <a:latin typeface="Consolas"/>
              </a:rPr>
              <a:t>-- 부분 유니크 인덱스 (status='active' 일 때만)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E6E6EC"/>
                </a:solidFill>
                <a:latin typeface="Consolas"/>
              </a:rPr>
              <a:t>create unique index matches_active_pair_uniq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E6E6EC"/>
                </a:solidFill>
                <a:latin typeface="Consolas"/>
              </a:rPr>
              <a:t>  on matches (least(user_a,user_b),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E6E6EC"/>
                </a:solidFill>
                <a:latin typeface="Consolas"/>
              </a:rPr>
              <a:t>              greatest(user_a,user_b))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E6E6EC"/>
                </a:solidFill>
                <a:latin typeface="Consolas"/>
              </a:rPr>
              <a:t>  where status = 'active';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40480"/>
            <a:ext cx="5440680" cy="210312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3840480"/>
            <a:ext cx="5440680" cy="82296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041648"/>
            <a:ext cx="50383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2228"/>
                </a:solidFill>
                <a:latin typeface="맑은 고딕"/>
              </a:rPr>
              <a:t>왜 인덱스까지?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553712"/>
            <a:ext cx="50383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락은 '코드가 항상 락을 잡을 때'만 유효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인덱스 제약은 경로와 무관하게 항상 성립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→ 다중 방어(defense in depth)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OS의 '불변식(invariant) 보장'과 같은 발상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63040"/>
            <a:ext cx="5440680" cy="182880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463040"/>
            <a:ext cx="5440680" cy="82296"/>
          </a:xfrm>
          <a:prstGeom prst="roundRect">
            <a:avLst/>
          </a:prstGeom>
          <a:solidFill>
            <a:srgbClr val="22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664208"/>
            <a:ext cx="50383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2228"/>
                </a:solidFill>
                <a:latin typeface="맑은 고딕"/>
              </a:rPr>
              <a:t>교착 상태(Deadlock)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176272"/>
            <a:ext cx="503834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여러 락을 잡으면 순환 대기 → 데드락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여기선 단일 키('match_creation') 사용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→ 락 순서 단순화로 데드락 회피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429000"/>
            <a:ext cx="5440680" cy="251460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3429000"/>
            <a:ext cx="5440680" cy="82296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3630168"/>
            <a:ext cx="50383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2228"/>
                </a:solidFill>
                <a:latin typeface="맑은 고딕"/>
              </a:rPr>
              <a:t>재매칭 함수도 같은 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142232"/>
            <a:ext cx="5038344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find_or_create_match 와 find_additional_match 가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동일 키를 공유 → 두 함수끼리도 직렬화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교과서의 '모든 임계구역이 같은 락 사용' 원칙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= 상호배제가 전역적으로 성립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5B66"/>
                </a:solidFill>
                <a:latin typeface="맑은 고딕"/>
              </a:rPr>
              <a:t>뮤직매치 · OS 사례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234440"/>
          </a:xfrm>
          <a:prstGeom prst="roundRect">
            <a:avLst/>
          </a:prstGeom>
          <a:solidFill>
            <a:srgbClr val="FF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64592" cy="1234440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625D"/>
                </a:solidFill>
                <a:latin typeface="맑은 고딕"/>
              </a:rPr>
              <a:t>메모리 계층 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22228"/>
                </a:solidFill>
                <a:latin typeface="맑은 고딕"/>
              </a:rPr>
              <a:t>캐싱(Caching) — 멜론 검색/차트 인메모리 캐시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6766560" cy="3200400"/>
          </a:xfrm>
          <a:prstGeom prst="round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 bIns="101600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E6E6EC"/>
                </a:solidFill>
                <a:latin typeface="Consolas"/>
              </a:rPr>
              <a:t>const store = new Map&lt;string, Entry&gt;();  // 서버 메모리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E6E6EC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E6E6EC"/>
                </a:solidFill>
                <a:latin typeface="Consolas"/>
              </a:rPr>
              <a:t>function getCache(key){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E6E6EC"/>
                </a:solidFill>
                <a:latin typeface="Consolas"/>
              </a:rPr>
              <a:t>  const e = store.get(key);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E6E6EC"/>
                </a:solidFill>
                <a:latin typeface="Consolas"/>
              </a:rPr>
              <a:t>  if(!e) return null;                 // miss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E6E6EC"/>
                </a:solidFill>
                <a:latin typeface="Consolas"/>
              </a:rPr>
              <a:t>  if(Date.now() &gt; e.expiresAt){       // 만료(eviction)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E6E6EC"/>
                </a:solidFill>
                <a:latin typeface="Consolas"/>
              </a:rPr>
              <a:t>    store.delete(key); return null;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E6E6EC"/>
                </a:solidFill>
                <a:latin typeface="Consolas"/>
              </a:rPr>
              <a:t>  }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E6E6EC"/>
                </a:solidFill>
                <a:latin typeface="Consolas"/>
              </a:rPr>
              <a:t>  return e.data;                      // hit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E6E6EC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E6E6EC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E6E6EC"/>
                </a:solidFill>
                <a:latin typeface="Consolas"/>
              </a:rPr>
              <a:t>CACHE_TTL = { chart: 5분, search: 10분,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250">
                <a:solidFill>
                  <a:srgbClr val="E6E6EC"/>
                </a:solidFill>
                <a:latin typeface="Consolas"/>
              </a:rPr>
              <a:t>              searchFail: 30초 }  // 장애 응답은 짧게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63040"/>
            <a:ext cx="4069080" cy="214884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43800" y="1463040"/>
            <a:ext cx="4069080" cy="82296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44968" y="1664208"/>
            <a:ext cx="36667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2228"/>
                </a:solidFill>
                <a:latin typeface="맑은 고딕"/>
              </a:rPr>
              <a:t>OS 매핑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4968" y="2176272"/>
            <a:ext cx="366674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메모리 캐시 = CPU 캐시/페이지 캐시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hit/miss, TTL 만료 = 캐시 교체 정책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같은 검색어 반복 = 시간적 지역성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외부 API(느린 디스크) → 메모리(빠름)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3794760"/>
            <a:ext cx="4069080" cy="214884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43800" y="3794760"/>
            <a:ext cx="4069080" cy="82296"/>
          </a:xfrm>
          <a:prstGeom prst="roundRect">
            <a:avLst/>
          </a:prstGeom>
          <a:solidFill>
            <a:srgbClr val="22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3995928"/>
            <a:ext cx="36667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2228"/>
                </a:solidFill>
                <a:latin typeface="맑은 고딕"/>
              </a:rPr>
              <a:t>왜 TTL을 다르게?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4507992"/>
            <a:ext cx="366674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정상 결과는 길게(10분) 캐시 → 부하↓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장애 폴백은 30초만 → 빠른 복구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= 캐시 일관성 vs 성능 trade-off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신선도(freshness)와 비용의 균형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5B66"/>
                </a:solidFill>
                <a:latin typeface="맑은 고딕"/>
              </a:rPr>
              <a:t>뮤직매치 · OS 사례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234440"/>
          </a:xfrm>
          <a:prstGeom prst="roundRect">
            <a:avLst/>
          </a:prstGeom>
          <a:solidFill>
            <a:srgbClr val="FF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64592" cy="1234440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625D"/>
                </a:solidFill>
                <a:latin typeface="맑은 고딕"/>
              </a:rPr>
              <a:t>메모리 계층 #2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22228"/>
                </a:solidFill>
                <a:latin typeface="맑은 고딕"/>
              </a:rPr>
              <a:t>지역성과 응답 흐름 — 캐시가 막아주는 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2286000" cy="137160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2228"/>
                </a:solidFill>
                <a:latin typeface="맑은 고딕"/>
              </a:rPr>
              <a:t>검색 요청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22228"/>
                </a:solidFill>
                <a:latin typeface="맑은 고딕"/>
              </a:rPr>
              <a:t>사용자 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65176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625D"/>
                </a:solidFill>
                <a:latin typeface="맑은 고딕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2194560"/>
            <a:ext cx="2286000" cy="1371600"/>
          </a:xfrm>
          <a:prstGeom prst="roundRect">
            <a:avLst/>
          </a:prstGeom>
          <a:solidFill>
            <a:srgbClr val="FF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46888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2228"/>
                </a:solidFill>
                <a:latin typeface="맑은 고딕"/>
              </a:rPr>
              <a:t>캐시 조회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97180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22228"/>
                </a:solidFill>
                <a:latin typeface="맑은 고딕"/>
              </a:rPr>
              <a:t>Map.get(key)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65176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FF625D"/>
                </a:solidFill>
                <a:latin typeface="맑은 고딕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194560"/>
            <a:ext cx="2286000" cy="1371600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46888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HIT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97180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맑은 고딕"/>
              </a:rPr>
              <a:t>즉시 응답 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194560"/>
            <a:ext cx="2286000" cy="1371600"/>
          </a:xfrm>
          <a:prstGeom prst="roundRect">
            <a:avLst/>
          </a:prstGeom>
          <a:solidFill>
            <a:srgbClr val="22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46888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MISS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97180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FFFFFF"/>
                </a:solidFill>
                <a:latin typeface="맑은 고딕"/>
              </a:rPr>
              <a:t>멜론 API 호출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6576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625D"/>
                </a:solidFill>
                <a:latin typeface="맑은 고딕"/>
              </a:rPr>
              <a:t>빠름 (메모리)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6576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5B5B66"/>
                </a:solidFill>
                <a:latin typeface="맑은 고딕"/>
              </a:rPr>
              <a:t>느림 (외부 네트워크)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80560"/>
            <a:ext cx="11064240" cy="155448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61772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25D"/>
                </a:solidFill>
                <a:latin typeface="맑은 고딕"/>
              </a:rPr>
              <a:t>핵심 통찰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2920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22228"/>
                </a:solidFill>
                <a:latin typeface="맑은 고딕"/>
              </a:rPr>
              <a:t>• 느린 계층(외부 API) 앞에 빠른 계층(메모리)을 두는 것 = 운영체제 메모리 계층구조의 원리.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22228"/>
                </a:solidFill>
                <a:latin typeface="맑은 고딕"/>
              </a:rPr>
              <a:t>• 인기 검색어가 반복(지역성)될수록 hit율↑ → 평균 응답시간과 외부 부하가 동시에 감소.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5B66"/>
                </a:solidFill>
                <a:latin typeface="맑은 고딕"/>
              </a:rPr>
              <a:t>뮤직매치 · OS 사례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234440"/>
          </a:xfrm>
          <a:prstGeom prst="roundRect">
            <a:avLst/>
          </a:prstGeom>
          <a:solidFill>
            <a:srgbClr val="FF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64592" cy="1234440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625D"/>
                </a:solidFill>
                <a:latin typeface="맑은 고딕"/>
              </a:rPr>
              <a:t>스케줄링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22228"/>
                </a:solidFill>
                <a:latin typeface="맑은 고딕"/>
              </a:rPr>
              <a:t>프로세스 상태 &amp; 큐 — 가입 승인 / 매칭 / '한 명 더' 대기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697480" cy="201168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2697480" cy="457200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27632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New /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22228"/>
                </a:solidFill>
                <a:latin typeface="맑은 고딕"/>
              </a:rPr>
              <a:t>가입 → 승인 대기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2423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5B66"/>
                </a:solidFill>
                <a:latin typeface="맑은 고딕"/>
              </a:rPr>
              <a:t>운영팀 검수 큐에서 대기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554480"/>
            <a:ext cx="2697480" cy="201168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7560" y="1554480"/>
            <a:ext cx="2697480" cy="457200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627632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Running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14884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22228"/>
                </a:solidFill>
                <a:latin typeface="맑은 고딕"/>
              </a:rPr>
              <a:t>승인 완료(active)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697480"/>
            <a:ext cx="2423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5B66"/>
                </a:solidFill>
                <a:latin typeface="맑은 고딕"/>
              </a:rPr>
              <a:t>매칭·채팅 자원 사용 가능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554480"/>
            <a:ext cx="2697480" cy="201168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26480" y="1554480"/>
            <a:ext cx="2697480" cy="457200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627632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Waiting/Blocked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14884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22228"/>
                </a:solidFill>
                <a:latin typeface="맑은 고딕"/>
              </a:rPr>
              <a:t>'한 명 더' 대기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697480"/>
            <a:ext cx="2423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5B66"/>
                </a:solidFill>
                <a:latin typeface="맑은 고딕"/>
              </a:rPr>
              <a:t>즉시 연결 X, 확인 후 처리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1554480"/>
            <a:ext cx="2697480" cy="201168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15400" y="1554480"/>
            <a:ext cx="2697480" cy="457200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15400" y="1627632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Terminated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148840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22228"/>
                </a:solidFill>
                <a:latin typeface="맑은 고딕"/>
              </a:rPr>
              <a:t>탈퇴 / 매칭 종료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697480"/>
            <a:ext cx="2423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5B66"/>
                </a:solidFill>
                <a:latin typeface="맑은 고딕"/>
              </a:rPr>
              <a:t>자원 회수, 상태 종료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886200"/>
            <a:ext cx="11064240" cy="2148840"/>
          </a:xfrm>
          <a:prstGeom prst="roundRect">
            <a:avLst/>
          </a:prstGeom>
          <a:solidFill>
            <a:srgbClr val="FF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0233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25D"/>
                </a:solidFill>
                <a:latin typeface="맑은 고딕"/>
              </a:rPr>
              <a:t>📖 OS 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43484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222228"/>
                </a:solidFill>
                <a:latin typeface="맑은 고딕"/>
              </a:rPr>
              <a:t>• 승인 대기 = 작업 큐(Job Queue)에서 스케줄러(운영팀)의 선택을 기다리는 New/Ready 상태.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222228"/>
                </a:solidFill>
                <a:latin typeface="맑은 고딕"/>
              </a:rPr>
              <a:t>• '한 명 더'를 즉시 연결하지 않고 대기시키는 것 = 자원(매칭 슬롯) 경합을 줄이는 admission control.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222228"/>
                </a:solidFill>
                <a:latin typeface="맑은 고딕"/>
              </a:rPr>
              <a:t>• 미승인 사용자의 채팅 차단 = 자원 접근 전 상태 검사 → 잘못된 상태 전이를 막는 가드.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5B66"/>
                </a:solidFill>
                <a:latin typeface="맑은 고딕"/>
              </a:rPr>
              <a:t>뮤직매치 · OS 사례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234440"/>
          </a:xfrm>
          <a:prstGeom prst="roundRect">
            <a:avLst/>
          </a:prstGeom>
          <a:solidFill>
            <a:srgbClr val="FF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64592" cy="1234440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625D"/>
                </a:solidFill>
                <a:latin typeface="맑은 고딕"/>
              </a:rPr>
              <a:t>프로세스 간 통신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22228"/>
                </a:solidFill>
                <a:latin typeface="맑은 고딕"/>
              </a:rPr>
              <a:t>IPC — 실시간 채팅은 메시지 패싱(Message Passing)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440680" cy="21945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5440680" cy="82296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09928"/>
            <a:ext cx="50383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2228"/>
                </a:solidFill>
                <a:latin typeface="맑은 고딕"/>
              </a:rPr>
              <a:t>앱에서 일어나는 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21992"/>
            <a:ext cx="5038344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A가 메시지 전송 → DB messages INSERT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Supabase Realtime이 변경을 구독자에게 push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B의 화면에 즉시 반영 (수정/삭제/열람도 전파)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= 두 클라이언트가 채널로 메시지를 주고받음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5440680" cy="219456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508760"/>
            <a:ext cx="5440680" cy="82296"/>
          </a:xfrm>
          <a:prstGeom prst="roundRect">
            <a:avLst/>
          </a:prstGeom>
          <a:solidFill>
            <a:srgbClr val="22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709928"/>
            <a:ext cx="50383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2228"/>
                </a:solidFill>
                <a:latin typeface="맑은 고딕"/>
              </a:rPr>
              <a:t>OS 매핑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221992"/>
            <a:ext cx="5038344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서로 다른 프로세스(브라우저 2개)의 통신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공유 메모리가 아닌 '메시지 전달' 모델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DB/Realtime 채널 = 커널이 중개하는 메일박스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구독(subscribe) = 채널에 receive 등록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11064240" cy="210312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690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25D"/>
                </a:solidFill>
                <a:latin typeface="맑은 고딕"/>
              </a:rPr>
              <a:t>동기화 포인트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480560"/>
            <a:ext cx="10607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22228"/>
                </a:solidFill>
                <a:latin typeface="맑은 고딕"/>
              </a:rPr>
              <a:t>• 'replica identity' 설정으로 UPDATE 전체 행을 전파 → 양쪽 상태를 일관되게 유지(consistency).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22228"/>
                </a:solidFill>
                <a:latin typeface="맑은 고딕"/>
              </a:rPr>
              <a:t>• 메시지 패싱은 공유 변수 락이 필요 없어 경쟁 상태가 적다 → IPC 방식 선택의 trade-off.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22228"/>
                </a:solidFill>
                <a:latin typeface="맑은 고딕"/>
              </a:rPr>
              <a:t>• 비교: 매칭(슬라이드 3~5)은 공유 메모리(공유 테이블) 모델이라 반대로 락이 필요했다.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5B66"/>
                </a:solidFill>
                <a:latin typeface="맑은 고딕"/>
              </a:rPr>
              <a:t>뮤직매치 · OS 사례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234440"/>
          </a:xfrm>
          <a:prstGeom prst="roundRect">
            <a:avLst/>
          </a:prstGeom>
          <a:solidFill>
            <a:srgbClr val="FF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64592" cy="1234440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625D"/>
                </a:solidFill>
                <a:latin typeface="맑은 고딕"/>
              </a:rPr>
              <a:t>자원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22228"/>
                </a:solidFill>
                <a:latin typeface="맑은 고딕"/>
              </a:rPr>
              <a:t>자원 수명 &amp; 회수 — '한 번만 보기' 사진 / '펑' 메시지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6035040" cy="2743200"/>
          </a:xfrm>
          <a:prstGeom prst="round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01600" tIns="101600" bIns="101600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>
                <a:solidFill>
                  <a:srgbClr val="7A9E7E"/>
                </a:solidFill>
                <a:latin typeface="Consolas"/>
              </a:rPr>
              <a:t>-- messages 상태 컬럼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300">
                <a:solidFill>
                  <a:srgbClr val="E6E6EC"/>
                </a:solidFill>
                <a:latin typeface="Consolas"/>
              </a:rPr>
              <a:t>viewed_at  : 수신자 열람 시각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300">
                <a:solidFill>
                  <a:srgbClr val="E6E6EC"/>
                </a:solidFill>
                <a:latin typeface="Consolas"/>
              </a:rPr>
              <a:t>view_once  : 1회 열람 후 스토리지 원본 삭제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300">
                <a:solidFill>
                  <a:srgbClr val="E6E6EC"/>
                </a:solidFill>
                <a:latin typeface="Consolas"/>
              </a:rPr>
              <a:t>disappear  : '펑' — 읽으면 자동 소멸(soft delete)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300">
                <a:solidFill>
                  <a:srgbClr val="E6E6EC"/>
                </a:solidFill>
                <a:latin typeface="Consolas"/>
              </a:rPr>
              <a:t>deleted_at : 소멸/삭제 시각 (null=살아있음)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463040"/>
            <a:ext cx="4846320" cy="274320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66560" y="1463040"/>
            <a:ext cx="4846320" cy="82296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67728" y="1664208"/>
            <a:ext cx="44439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2228"/>
                </a:solidFill>
                <a:latin typeface="맑은 고딕"/>
              </a:rPr>
              <a:t>수명 주기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7728" y="2176272"/>
            <a:ext cx="4443984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생성 → 열람(viewed_at) → 회수(원본 delete)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한 번 쓰고 버리는 자원 = 명시적 해제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참조가 끝나면 즉시 자원을 반납하는 패턴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11064240" cy="1645920"/>
          </a:xfrm>
          <a:prstGeom prst="roundRect">
            <a:avLst/>
          </a:prstGeom>
          <a:solidFill>
            <a:srgbClr val="FF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5262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25D"/>
                </a:solidFill>
                <a:latin typeface="맑은 고딕"/>
              </a:rPr>
              <a:t>📖 OS 매핑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22228"/>
                </a:solidFill>
                <a:latin typeface="맑은 고딕"/>
              </a:rPr>
              <a:t>• view_once 사진의 '열람 후 원본 삭제' = 사용 끝난 자원의 즉시 회수(메모리 해제/파일 unlink와 동형).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22228"/>
                </a:solidFill>
                <a:latin typeface="맑은 고딕"/>
              </a:rPr>
              <a:t>• 'viewed_at에 따라 소멸' = 조건 충족 시 상태 전이 → 동기화(열람 이벤트)와 자원 해제를 묶은 설계.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5B66"/>
                </a:solidFill>
                <a:latin typeface="맑은 고딕"/>
              </a:rPr>
              <a:t>뮤직매치 · OS 사례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234440"/>
          </a:xfrm>
          <a:prstGeom prst="roundRect">
            <a:avLst/>
          </a:prstGeom>
          <a:solidFill>
            <a:srgbClr val="FF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164592" cy="1234440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625D"/>
                </a:solidFill>
                <a:latin typeface="맑은 고딕"/>
              </a:rPr>
              <a:t>보호와 보안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222228"/>
                </a:solidFill>
                <a:latin typeface="맑은 고딕"/>
              </a:rPr>
              <a:t>보호(Protection) &amp; 접근제어 — RLS / service_role / 서버 전용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3520440" cy="228600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3520440" cy="82296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09928"/>
            <a:ext cx="3118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2228"/>
                </a:solidFill>
                <a:latin typeface="맑은 고딕"/>
              </a:rPr>
              <a:t>사용자 모드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21992"/>
            <a:ext cx="311810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브라우저의 anon/로그인 키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RLS 정책이 허용한 행만 접근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'본인 메시지만 수정/삭제' 정책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= 최소 권한(least privilege)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508760"/>
            <a:ext cx="3520440" cy="228600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60" y="1508760"/>
            <a:ext cx="3520440" cy="82296"/>
          </a:xfrm>
          <a:prstGeom prst="roundRect">
            <a:avLst/>
          </a:prstGeom>
          <a:solidFill>
            <a:srgbClr val="22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709928"/>
            <a:ext cx="3118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2228"/>
                </a:solidFill>
                <a:latin typeface="맑은 고딕"/>
              </a:rPr>
              <a:t>커널(특권) 모드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221992"/>
            <a:ext cx="311810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서버 전용 service_role 키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RLS 우회 가능한 강한 권한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절대 클라이언트에 노출 금지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= 특권 명령은 커널만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508760"/>
            <a:ext cx="3657600" cy="228600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55279" y="1508760"/>
            <a:ext cx="3657600" cy="82296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7" y="1709928"/>
            <a:ext cx="32552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22228"/>
                </a:solidFill>
                <a:latin typeface="맑은 고딕"/>
              </a:rPr>
              <a:t>경계(boundary)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7" y="2221992"/>
            <a:ext cx="325526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.server.ts = 서버에서만 실행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DB 쿼리는 repos/*.server 안에서만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클라이언트↔서버 권한 분리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5B5B66"/>
                </a:solidFill>
                <a:latin typeface="맑은 고딕"/>
              </a:rPr>
              <a:t>= 사용자/커널 모드 전환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11064240" cy="2011680"/>
          </a:xfrm>
          <a:prstGeom prst="round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16052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625D"/>
                </a:solidFill>
                <a:latin typeface="맑은 고딕"/>
              </a:rPr>
              <a:t>핵심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7200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22228"/>
                </a:solidFill>
                <a:latin typeface="맑은 고딕"/>
              </a:rPr>
              <a:t>• RLS(Row Level Security) = OS의 접근제어 행렬/권한 비트 — '누가 어떤 자원에 무엇을 할 수 있나'.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22228"/>
                </a:solidFill>
                <a:latin typeface="맑은 고딕"/>
              </a:rPr>
              <a:t>• service_role과 anon 키의 분리 = 이중 모드(user/kernel)와 권한 도메인 분리의 데이터베이스 버전.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222228"/>
                </a:solidFill>
                <a:latin typeface="맑은 고딕"/>
              </a:rPr>
              <a:t>• 색상 가드(pre-commit) · 권한 허용목록 = 정책을 자동으로 강제하는 reference monitor의 축소판.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465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5B66"/>
                </a:solidFill>
                <a:latin typeface="맑은 고딕"/>
              </a:rPr>
              <a:t>뮤직매치 · OS 사례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22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28600" cy="6858000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정리 — 시험에 이렇게 답하면 된다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3200400" cy="566928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7335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임계구역/상호배제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627632"/>
            <a:ext cx="74980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0E0E8"/>
                </a:solidFill>
                <a:latin typeface="맑은 고딕"/>
              </a:rPr>
              <a:t>매칭의 SELECT~INSERT를 advisory lock으로 직렬화 + 유니크 인덱스로 불변식 보장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12848"/>
            <a:ext cx="3200400" cy="566928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경쟁 상태/이중검사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286000"/>
            <a:ext cx="74980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0E0E8"/>
                </a:solidFill>
                <a:latin typeface="맑은 고딕"/>
              </a:rPr>
              <a:t>락 획득 후 재확인(double-checked) — 대기 중 상태가 바뀔 수 있으니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71216"/>
            <a:ext cx="3200400" cy="566928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90088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캐싱/지역성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44368"/>
            <a:ext cx="74980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0E0E8"/>
                </a:solidFill>
                <a:latin typeface="맑은 고딕"/>
              </a:rPr>
              <a:t>느린 외부 API 앞에 메모리 캐시(TTL) → hit/miss·교체 = 메모리 계층구조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29584"/>
            <a:ext cx="3200400" cy="566928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48456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프로세스 상태/스케줄링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602736"/>
            <a:ext cx="74980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0E0E8"/>
                </a:solidFill>
                <a:latin typeface="맑은 고딕"/>
              </a:rPr>
              <a:t>가입 승인 큐·'한 명 더' 대기 = Ready/Waiting 상태와 admission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187952"/>
            <a:ext cx="3200400" cy="566928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06824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IPC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261104"/>
            <a:ext cx="74980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0E0E8"/>
                </a:solidFill>
                <a:latin typeface="맑은 고딕"/>
              </a:rPr>
              <a:t>실시간 채팅 = 메시지 패싱(공유 메모리 아님) → 락 없이 통신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846320"/>
            <a:ext cx="3200400" cy="566928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965192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자원 회수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919472"/>
            <a:ext cx="74980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0E0E8"/>
                </a:solidFill>
                <a:latin typeface="맑은 고딕"/>
              </a:rPr>
              <a:t>한 번만 보기/펑 = 사용 후 즉시 해제(unlink) + 상태 전이 동기화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504688"/>
            <a:ext cx="3200400" cy="566928"/>
          </a:xfrm>
          <a:prstGeom prst="roundRect">
            <a:avLst/>
          </a:prstGeom>
          <a:solidFill>
            <a:srgbClr val="FF62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6235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보호/이중 모드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5577840"/>
            <a:ext cx="74980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0E0E8"/>
                </a:solidFill>
                <a:latin typeface="맑은 고딕"/>
              </a:rPr>
              <a:t>RLS·service_role 분리 = 접근제어 + user/kernel 권한 도메인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